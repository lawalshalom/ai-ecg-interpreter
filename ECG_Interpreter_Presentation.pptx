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4C81"/>
            </a:gs>
            <a:gs pos="100000">
              <a:srgbClr val="1A9E8F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20040"/>
            <a:ext cx="4873752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74320"/>
            <a:ext cx="4873752" cy="384048"/>
          </a:xfrm>
          <a:prstGeom prst="rect">
            <a:avLst/>
          </a:prstGeom>
          <a:solidFill>
            <a:srgbClr val="1A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274320"/>
            <a:ext cx="48737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  ECG  INTERPRETER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ECG Interpreter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CCE8FF"/>
                </a:solidFill>
              </a:rPr>
              <a:t>AI-Powered Cardiac Diagnostics for Resource-Limited Settings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2708" y="2331720"/>
            <a:ext cx="2377440" cy="1005840"/>
          </a:xfrm>
          <a:prstGeom prst="rect">
            <a:avLst/>
          </a:prstGeom>
          <a:solidFill>
            <a:srgbClr val="1A6AA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" y="239572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0.954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" y="2907792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AACCFF"/>
                </a:solidFill>
              </a:rPr>
              <a:t>PTB-XL AUROC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34740" y="2331720"/>
            <a:ext cx="2377440" cy="1005840"/>
          </a:xfrm>
          <a:prstGeom prst="rect">
            <a:avLst/>
          </a:prstGeom>
          <a:solidFill>
            <a:srgbClr val="1A6AA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4740" y="239572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0.833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4740" y="2907792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AACCFF"/>
                </a:solidFill>
              </a:rPr>
              <a:t>SHD AUROC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6772" y="2331720"/>
            <a:ext cx="2377440" cy="1005840"/>
          </a:xfrm>
          <a:prstGeom prst="rect">
            <a:avLst/>
          </a:prstGeom>
          <a:solidFill>
            <a:srgbClr val="1A6AA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6772" y="239572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21,799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6772" y="2907792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AACCFF"/>
                </a:solidFill>
              </a:rPr>
              <a:t>Training ECGs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18804" y="2331720"/>
            <a:ext cx="2377440" cy="1005840"/>
          </a:xfrm>
          <a:prstGeom prst="rect">
            <a:avLst/>
          </a:prstGeom>
          <a:solidFill>
            <a:srgbClr val="1A6AA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8804" y="239572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8804" y="2907792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AACCFF"/>
                </a:solidFill>
              </a:rPr>
              <a:t>Conditions Detected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47872"/>
            <a:ext cx="11457432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355080"/>
            <a:ext cx="11457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AACCFF"/>
                </a:solidFill>
              </a:rPr>
              <a:t>Dr. Femi Lawal  ·  Robotic and Artificial Intelligence Nigeria (RAIN)  ·  March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4C81"/>
                </a:solidFill>
              </a:rPr>
              <a:t>Nigeria's Cardiac Care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33272"/>
            <a:ext cx="3200400" cy="45720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560320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E63946"/>
                </a:solidFill>
              </a:rPr>
              <a:t>1:10K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Cardiologist-to-patient ratio [3]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23444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3240" y="1234440"/>
            <a:ext cx="256032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32588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F4A261"/>
                </a:solidFill>
              </a:rPr>
              <a:t>&lt;300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7373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Echo machines nationwide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2560320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9748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E63946"/>
                </a:solidFill>
              </a:rPr>
              <a:t>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1089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CVD deaths in LMICs — preventable [1]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260604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63240" y="2606040"/>
            <a:ext cx="2560320" cy="64008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269748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1A9E8F"/>
                </a:solidFill>
              </a:rPr>
              <a:t>216M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1089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Nigeria's population [1]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1234440"/>
            <a:ext cx="73152" cy="1325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33872" y="1234440"/>
            <a:ext cx="6035040" cy="1325880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1298448"/>
            <a:ext cx="58338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</a:rPr>
              <a:t>The Diagnostic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1627632"/>
            <a:ext cx="583387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Most patients diagnosed late or not at all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Specialists concentrated in Lagos &amp; Abuja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Referral chains are long and costly [2]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651760"/>
            <a:ext cx="73152" cy="1508760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33872" y="2651760"/>
            <a:ext cx="6035040" cy="1508760"/>
          </a:xfrm>
          <a:prstGeom prst="rect">
            <a:avLst/>
          </a:prstGeom>
          <a:solidFill>
            <a:srgbClr val="F0FA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2715768"/>
            <a:ext cx="58338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</a:rPr>
              <a:t>The Opportunity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044952"/>
            <a:ext cx="583387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ECG machines in rural PHCs (₦480K–₦1.6M) [8]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ECG costs ₦4,800–₦12,800 vs ₦320K–₦640K for echo [8]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AI bridges the skills gap without new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4C81"/>
                </a:solidFill>
              </a:rPr>
              <a:t>ECG Interpreter — What It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33272"/>
            <a:ext cx="3200400" cy="45720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3796" y="1298448"/>
            <a:ext cx="34747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" y="1298448"/>
            <a:ext cx="3474720" cy="64008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" y="138988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9E8F"/>
                </a:solidFill>
              </a:rPr>
              <a:t>Paper ECG Friendly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" y="17373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Accepts smartphone photos of printed ECGs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" y="19659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AI digitiser converts image → waveform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" y="21945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Works with any 12-lead machine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7116" y="1298448"/>
            <a:ext cx="34747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7116" y="1298448"/>
            <a:ext cx="3474720" cy="6400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8556" y="138988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F4C81"/>
                </a:solidFill>
              </a:rPr>
              <a:t>Fully Offline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4276" y="17373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Runs on a laptop or tablet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4276" y="19659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No internet or cloud subscription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4276" y="21945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~121 MB total model weight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0436" y="1298448"/>
            <a:ext cx="34747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0436" y="1298448"/>
            <a:ext cx="3474720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1876" y="138988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</a:rPr>
              <a:t>Clinical Decision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7596" y="17373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Flags HIGH / MOD / LOW risk in &lt;30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7596" y="19659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Evidence-weighted differential diagnoses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7596" y="21945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Augments — does not replace — the clinician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49039"/>
            <a:ext cx="11457432" cy="822960"/>
          </a:xfrm>
          <a:prstGeom prst="rect">
            <a:avLst/>
          </a:prstGeom>
          <a:solidFill>
            <a:srgbClr val="FFFBF0"/>
          </a:solidFill>
          <a:ln w="952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22191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Real scenario: PHC nurse photographs ECG → AI flags Reduced EF + Pulmonary HTN (HIGH risk) → Urgent referral issued. Cost: ₦4,800 ECG + a smartphone photo. [8]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4C81"/>
                </a:solidFill>
              </a:rPr>
              <a:t>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33272"/>
            <a:ext cx="3200400" cy="45720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8972" y="1298448"/>
            <a:ext cx="1828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8972" y="133502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F4C81"/>
                </a:solidFill>
              </a:rPr>
              <a:t>1.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" y="15727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JPEG/PNG/PDF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0924" y="141732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1A9E8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9524" y="1298448"/>
            <a:ext cx="1828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9524" y="133502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F4C81"/>
                </a:solidFill>
              </a:rPr>
              <a:t>2. Digitiser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9524" y="15727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Image→Waveform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1476" y="141732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1A9E8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80076" y="1298448"/>
            <a:ext cx="1828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0076" y="133502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F4C81"/>
                </a:solidFill>
              </a:rPr>
              <a:t>3.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0076" y="15727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NeuroKit2 [7]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2028" y="141732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1A9E8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0628" y="1298448"/>
            <a:ext cx="1828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0628" y="133502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F4C81"/>
                </a:solidFill>
              </a:rPr>
              <a:t>4. Dual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0628" y="15727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Two Neural Nets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2580" y="141732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1A9E8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41180" y="1298448"/>
            <a:ext cx="1828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1180" y="133502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F4C81"/>
                </a:solidFill>
              </a:rPr>
              <a:t>5.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1180" y="157276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Risk+Diagnoses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57400"/>
            <a:ext cx="5591556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057400"/>
            <a:ext cx="5591556" cy="6400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148840"/>
            <a:ext cx="54086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4C81"/>
                </a:solidFill>
              </a:rPr>
              <a:t>Model 1 — PTB-XL ECG Classifier [4]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514600"/>
            <a:ext cx="5317236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Input: 12-lead ECG · 12×2,500 samples @ 250 Hz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1D ResNet Backbone (ECGEncoder1D) — 4 stages, ~5M params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256-dim ECG Embedding (Global Avg Pool)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→ 12 ECG Diagnoses (sigmoid output)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PTB-XL · 21,799 records · Val AUROC 0.954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4476" y="2057400"/>
            <a:ext cx="5591556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4476" y="2057400"/>
            <a:ext cx="5591556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5916" y="2148840"/>
            <a:ext cx="54086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</a:rPr>
              <a:t>Model 2 — EchoNext Structural Detector [6]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1636" y="2514600"/>
            <a:ext cx="5317236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ECG Branch → 256-dim  |  Tabular (7 features) → 128-dim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Fusion MLP: 384 → 256 → 64 (concatenated)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Dropout 0.2 for regularisation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→ 12 Structural Conditions (sigmoid output)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Columbia CUIMC · Echo-confirmed labels · SHD AUROC 0.833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4C81"/>
                </a:solidFill>
              </a:rPr>
              <a:t>Training 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33272"/>
            <a:ext cx="3200400" cy="45720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91556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591556" cy="6400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4086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4C81"/>
                </a:solidFill>
              </a:rPr>
              <a:t>PTB-XL v1.0.3  [4]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5500116" cy="27432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642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664208"/>
            <a:ext cx="34884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PhysioNet / Univ. Basel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47672"/>
            <a:ext cx="5500116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476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Total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947672"/>
            <a:ext cx="34884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21,799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231136"/>
            <a:ext cx="5500116" cy="27432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31136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Train / Val /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231136"/>
            <a:ext cx="34884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17,439 / 2,180 / 2,180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514600"/>
            <a:ext cx="5500116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51460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Sampling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514600"/>
            <a:ext cx="34884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100 Hz → resampled 250 Hz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798064"/>
            <a:ext cx="5500116" cy="27432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798064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798064"/>
            <a:ext cx="34884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SCP codes — dual cardiologist verified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081528"/>
            <a:ext cx="5500116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08152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081528"/>
            <a:ext cx="34884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601 MB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410712"/>
            <a:ext cx="5500116" cy="411480"/>
          </a:xfrm>
          <a:prstGeom prst="rect">
            <a:avLst/>
          </a:prstGeom>
          <a:solidFill>
            <a:srgbClr val="F0FAF8"/>
          </a:solidFill>
          <a:ln w="9525">
            <a:solidFill>
              <a:srgbClr val="1A9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438144"/>
            <a:ext cx="52715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12 binary classes: MI territories · BBB · AF · LVH · ST-T changes · Normal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4476" y="1234440"/>
            <a:ext cx="5591556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4476" y="1234440"/>
            <a:ext cx="5591556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5916" y="1325880"/>
            <a:ext cx="54086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EchoNext (CUIMC)  [6]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1664208"/>
            <a:ext cx="5500116" cy="27432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3076" y="16642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7596" y="1664208"/>
            <a:ext cx="34884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Columbia University Medical Centre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1636" y="1947672"/>
            <a:ext cx="5500116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3076" y="19476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Ground truth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7596" y="1947672"/>
            <a:ext cx="34884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Echocardiography findings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1636" y="2231136"/>
            <a:ext cx="5500116" cy="27432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3076" y="2231136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ECG shape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7596" y="2231136"/>
            <a:ext cx="34884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(N, 1, 2500, 12) @ 250 Hz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31636" y="2514600"/>
            <a:ext cx="5500116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3076" y="251460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Tabular features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7596" y="2514600"/>
            <a:ext cx="34884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Sex · HR · PR · QRS · QTc · 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1636" y="2798064"/>
            <a:ext cx="5500116" cy="27432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3076" y="2798064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Labels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7596" y="2798064"/>
            <a:ext cx="34884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12 binary structural conditions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1636" y="3081528"/>
            <a:ext cx="5500116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3076" y="308152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Best checkpoint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7596" y="3081528"/>
            <a:ext cx="34884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61 MB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31636" y="3410712"/>
            <a:ext cx="5500116" cy="411480"/>
          </a:xfrm>
          <a:prstGeom prst="rect">
            <a:avLst/>
          </a:prstGeom>
          <a:solidFill>
            <a:srgbClr val="FFFBF0"/>
          </a:solidFill>
          <a:ln w="952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68796" y="3438144"/>
            <a:ext cx="52715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Multi-modal: ECG waveform + 7 clinical features → +3–5% AUROC gain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4C81"/>
                </a:solidFill>
              </a:rPr>
              <a:t>Training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33272"/>
            <a:ext cx="3200400" cy="45720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03520" cy="6400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4C81"/>
                </a:solidFill>
              </a:rPr>
              <a:t>Shared Hyperparameters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5212080" cy="27432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6420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Optimizer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664208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AdamW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47672"/>
            <a:ext cx="52120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47672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Learning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947672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3×10⁻⁴ · cosine annealing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231136"/>
            <a:ext cx="5212080" cy="27432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31136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Weight decay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231136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1×10⁻⁴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514600"/>
            <a:ext cx="52120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514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Loss function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51460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BCEWithLogitsLoss (class-weighted)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798064"/>
            <a:ext cx="5212080" cy="27432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798064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Hardware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2798064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Apple M-series · MPS GPU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971800"/>
            <a:ext cx="2514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2971800"/>
            <a:ext cx="2514600" cy="64008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063240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1A9E8F"/>
                </a:solidFill>
              </a:rPr>
              <a:t>~8 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47472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EchoNext (15 epochs)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81528" y="2971800"/>
            <a:ext cx="2514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81528" y="2971800"/>
            <a:ext cx="2514600" cy="6400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81528" y="3063240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0F4C81"/>
                </a:solidFill>
              </a:rPr>
              <a:t>~3 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81528" y="347472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PTB-XL (17 epochs)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1234440"/>
            <a:ext cx="597103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97880" y="1234440"/>
            <a:ext cx="5971032" cy="64008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1325880"/>
            <a:ext cx="5788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</a:rPr>
              <a:t>Model-Specific Settings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1664208"/>
            <a:ext cx="5879592" cy="256032"/>
          </a:xfrm>
          <a:prstGeom prst="rect">
            <a:avLst/>
          </a:prstGeom>
          <a:solidFill>
            <a:srgbClr val="0F4C81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1664208"/>
            <a:ext cx="19598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3464" y="1664208"/>
            <a:ext cx="19598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PTB-XL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63328" y="1664208"/>
            <a:ext cx="19598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EchoNext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1929384"/>
            <a:ext cx="5879592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1929384"/>
            <a:ext cx="19598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Batch size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3464" y="1929384"/>
            <a:ext cx="19598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64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63328" y="1929384"/>
            <a:ext cx="19598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32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2194560"/>
            <a:ext cx="5879592" cy="25603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0" y="2194560"/>
            <a:ext cx="19598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Max epochs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3464" y="2194560"/>
            <a:ext cx="19598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63328" y="2194560"/>
            <a:ext cx="19598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30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459736"/>
            <a:ext cx="5879592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0" y="2459736"/>
            <a:ext cx="19598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Early stopping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3464" y="2459736"/>
            <a:ext cx="19598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patience 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63328" y="2459736"/>
            <a:ext cx="19598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patience 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2724912"/>
            <a:ext cx="5879592" cy="25603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0" y="2724912"/>
            <a:ext cx="19598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Best epoch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3464" y="2724912"/>
            <a:ext cx="19598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63328" y="2724912"/>
            <a:ext cx="19598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97880" y="3017520"/>
            <a:ext cx="5971032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97880" y="3017520"/>
            <a:ext cx="59710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89320" y="3108960"/>
            <a:ext cx="5788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</a:rPr>
              <a:t>Data Augmentation (EchoNext)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3456432"/>
            <a:ext cx="569671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Gaussian noise — σ ≈ 1% of signal amplitude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Amplitude scaling — ×0.9 to ×1.1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Baseline wander — low-frequency drift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Class weighting — up-weights rare conditions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4C81"/>
                </a:solidFill>
              </a:rPr>
              <a:t>Training Curves — Key Epoch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33272"/>
            <a:ext cx="3200400" cy="45720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03520" cy="6400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4C81"/>
                </a:solidFill>
              </a:rPr>
              <a:t>PTB-XL Classifier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5212080" cy="274320"/>
          </a:xfrm>
          <a:prstGeom prst="rect">
            <a:avLst/>
          </a:prstGeom>
          <a:solidFill>
            <a:srgbClr val="0F4C81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6420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Epoch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500" y="166420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Train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66420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Val AUROC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540" y="166420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938528"/>
            <a:ext cx="52120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93852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193852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0.631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93852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0.914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540" y="193852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212848"/>
            <a:ext cx="5212080" cy="27432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21284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4500" y="221284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0.417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21284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0.940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540" y="221284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Improving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87168"/>
            <a:ext cx="52120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48716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4500" y="248716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0.371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48716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0.939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540" y="248716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Stable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2761488"/>
            <a:ext cx="5212080" cy="274320"/>
          </a:xfrm>
          <a:prstGeom prst="rect">
            <a:avLst/>
          </a:prstGeom>
          <a:solidFill>
            <a:srgbClr val="D1FAE5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76148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A9E8F"/>
                </a:solidFill>
              </a:rPr>
              <a:t>7 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4500" y="276148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A9E8F"/>
                </a:solidFill>
              </a:rPr>
              <a:t>0.342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276148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A9E8F"/>
                </a:solidFill>
              </a:rPr>
              <a:t>0.954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0540" y="276148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A9E8F"/>
                </a:solidFill>
              </a:rPr>
              <a:t>BEST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035808"/>
            <a:ext cx="52120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03580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14500" y="303580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0.309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303580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0.952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0540" y="303580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Plateau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310128"/>
            <a:ext cx="5212080" cy="27432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31012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14500" y="331012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0.250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331012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0.948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540" y="3310128"/>
            <a:ext cx="13030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Final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1234440"/>
            <a:ext cx="569671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1234440"/>
            <a:ext cx="569671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1325880"/>
            <a:ext cx="5513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EchoNext Detector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1664208"/>
            <a:ext cx="5696712" cy="274320"/>
          </a:xfrm>
          <a:prstGeom prst="rect">
            <a:avLst/>
          </a:prstGeom>
          <a:solidFill>
            <a:srgbClr val="E63946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166420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Epoch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42098" y="166420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Train Loss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66276" y="166420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Mean AUROC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90454" y="166420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SHD AUROC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1938528"/>
            <a:ext cx="5696712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193852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42098" y="193852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0.864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66276" y="193852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0.793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90454" y="193852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0.811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2212848"/>
            <a:ext cx="5696712" cy="27432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221284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42098" y="221284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0.797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66276" y="221284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0.808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90454" y="221284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0.826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2487168"/>
            <a:ext cx="5696712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248716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42098" y="248716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0.768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66276" y="248716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0.819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90454" y="248716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0.831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2761488"/>
            <a:ext cx="5696712" cy="274320"/>
          </a:xfrm>
          <a:prstGeom prst="rect">
            <a:avLst/>
          </a:prstGeom>
          <a:solidFill>
            <a:srgbClr val="D1FAE5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276148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A9E8F"/>
                </a:solidFill>
              </a:rPr>
              <a:t>7 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42098" y="276148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A9E8F"/>
                </a:solidFill>
              </a:rPr>
              <a:t>0.745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66276" y="276148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A9E8F"/>
                </a:solidFill>
              </a:rPr>
              <a:t>0.821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90454" y="276148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A9E8F"/>
                </a:solidFill>
              </a:rPr>
              <a:t>0.833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20" y="3035808"/>
            <a:ext cx="5696712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7920" y="303580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42098" y="303580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0.710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66276" y="303580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0.818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90454" y="303580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0.826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17920" y="3310128"/>
            <a:ext cx="5696712" cy="274320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17920" y="331012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42098" y="331012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0.653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66276" y="331012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0.818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90454" y="3310128"/>
            <a:ext cx="142417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0.831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5760" y="4937760"/>
            <a:ext cx="11457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★  Best checkpoints saved at Epoch 7 for both models — early stopping prevented overfitting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4C81"/>
                </a:solidFill>
              </a:rPr>
              <a:t>Validation AUROC — All 24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33272"/>
            <a:ext cx="3200400" cy="45720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03520" cy="6400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4C81"/>
                </a:solidFill>
              </a:rPr>
              <a:t>PTB-XL — 12 ECG Diagnoses  [5]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5212080" cy="24688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6420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Normal ECG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642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0.970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20240"/>
            <a:ext cx="521208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Inferior 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9202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0.975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176272"/>
            <a:ext cx="5212080" cy="24688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7627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Anterior 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17627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0.971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432304"/>
            <a:ext cx="521208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432304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Lateral 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43230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0.952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688336"/>
            <a:ext cx="5212080" cy="24688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88336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Posterior 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68833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0.961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944368"/>
            <a:ext cx="521208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94436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ST/T Ischaemia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9443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0.943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200400"/>
            <a:ext cx="5212080" cy="24688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20040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LBBB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200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0.989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456432"/>
            <a:ext cx="521208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4564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RBBB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4564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0.982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712464"/>
            <a:ext cx="5212080" cy="24688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712464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AV Block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3712464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0.971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968496"/>
            <a:ext cx="521208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968496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LV Hypertrophy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396849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0.942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224528"/>
            <a:ext cx="5212080" cy="24688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2245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AF/Flutter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4224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0.985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480560"/>
            <a:ext cx="521208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4805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Any MI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448056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0.978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97880" y="1234440"/>
            <a:ext cx="5971032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97880" y="1234440"/>
            <a:ext cx="59710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89320" y="1325880"/>
            <a:ext cx="5788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</a:rPr>
              <a:t>EchoNext — 12 Structural Conditions  [6]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1664208"/>
            <a:ext cx="5925312" cy="246888"/>
          </a:xfrm>
          <a:prstGeom prst="rect">
            <a:avLst/>
          </a:prstGeom>
          <a:solidFill>
            <a:srgbClr val="0F4C81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1664208"/>
            <a:ext cx="5010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★ Any SHD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1672" y="166420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0.833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1920240"/>
            <a:ext cx="5925312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0" y="1920240"/>
            <a:ext cx="5010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Reduced EF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91672" y="1920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0.815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0" y="2176272"/>
            <a:ext cx="5925312" cy="24688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0" y="2176272"/>
            <a:ext cx="5010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LV Wall Thick.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1672" y="21762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0.807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2432304"/>
            <a:ext cx="5925312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2432304"/>
            <a:ext cx="5010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Aortic Stenosis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1672" y="24323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0.811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0" y="2688336"/>
            <a:ext cx="5925312" cy="24688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5040" y="2688336"/>
            <a:ext cx="5010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Mitral Regurg.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91672" y="268833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0.812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0" y="2944368"/>
            <a:ext cx="5925312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35040" y="2944368"/>
            <a:ext cx="5010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Pulmonary HTN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91672" y="294436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0.821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0" y="3200400"/>
            <a:ext cx="5925312" cy="24688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35040" y="3200400"/>
            <a:ext cx="5010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RV Dysfunction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91672" y="32004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0.816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3456432"/>
            <a:ext cx="5925312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35040" y="3456432"/>
            <a:ext cx="5010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Pericardial Eff.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91672" y="34564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0.819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712464"/>
            <a:ext cx="5925312" cy="24688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35040" y="3712464"/>
            <a:ext cx="5010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TR Velocity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091672" y="371246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0.815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0" y="3968496"/>
            <a:ext cx="5925312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35040" y="3968496"/>
            <a:ext cx="5010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Aortic Regurg.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91672" y="396849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0.809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43600" y="4224528"/>
            <a:ext cx="5925312" cy="246888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35040" y="4224528"/>
            <a:ext cx="5010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Tricuspid Reg.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91672" y="4224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0.813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43600" y="4480560"/>
            <a:ext cx="5925312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35040" y="4480560"/>
            <a:ext cx="5010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Pulm. Regurg.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091672" y="44805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1A9E8F"/>
                </a:solidFill>
              </a:rPr>
              <a:t>0.808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4C81"/>
                </a:solidFill>
              </a:rPr>
              <a:t>Interface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33272"/>
            <a:ext cx="3200400" cy="45720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45720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4572000" cy="6400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4C81"/>
                </a:solidFill>
              </a:rPr>
              <a:t>Input &amp; Extracted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</a:rPr>
              <a:t>[ Upload ECG image: JPEG / PNG / PDF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4297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12848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F4C81"/>
                </a:solidFill>
              </a:rPr>
              <a:t>Extracted Features: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96312"/>
            <a:ext cx="4297680" cy="25603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96312"/>
            <a:ext cx="1645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Heart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496312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87 bpm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61488"/>
            <a:ext cx="429768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761488"/>
            <a:ext cx="1645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QRS 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761488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124 ms ↑ (wide)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26664"/>
            <a:ext cx="4297680" cy="25603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026664"/>
            <a:ext cx="1645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PR Interval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026664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168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91840"/>
            <a:ext cx="4297680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91840"/>
            <a:ext cx="1645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QTc Interval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291840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445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557016"/>
            <a:ext cx="4297680" cy="25603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557016"/>
            <a:ext cx="1645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Patient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557016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58 yo / Male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1207008"/>
            <a:ext cx="6702552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6360" y="1207008"/>
            <a:ext cx="670255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1298448"/>
            <a:ext cx="6519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</a:rPr>
              <a:t>AI Interpretation Output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1719072"/>
            <a:ext cx="3474720" cy="347472"/>
          </a:xfrm>
          <a:prstGeom prst="rect">
            <a:avLst/>
          </a:prstGeom>
          <a:solidFill>
            <a:srgbClr val="FEE2E2"/>
          </a:solidFill>
          <a:ln w="9525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1737360"/>
            <a:ext cx="3383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</a:rPr>
              <a:t>▲  HIGH RISK — SHD Probability: 74%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2176272"/>
            <a:ext cx="63825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F4C81"/>
                </a:solidFill>
              </a:rPr>
              <a:t>Structural Conditions (EchoNext):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2450592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Any SHD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2505456"/>
            <a:ext cx="2286000" cy="14630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69480" y="2505456"/>
            <a:ext cx="1488584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2450592"/>
            <a:ext cx="457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63946"/>
                </a:solidFill>
              </a:rPr>
              <a:t>74%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2706624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Reduced EF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2761488"/>
            <a:ext cx="2286000" cy="14630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69480" y="2761488"/>
            <a:ext cx="1367888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2706624"/>
            <a:ext cx="457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E63946"/>
                </a:solidFill>
              </a:rPr>
              <a:t>68%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2962656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Mitral Regurg.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80" y="3017520"/>
            <a:ext cx="2286000" cy="14630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69480" y="3017520"/>
            <a:ext cx="1106380" cy="14630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2962656"/>
            <a:ext cx="457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4A261"/>
                </a:solidFill>
              </a:rPr>
              <a:t>55%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3218688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Pulmonary HTN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9480" y="3273552"/>
            <a:ext cx="2286000" cy="14630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69480" y="3273552"/>
            <a:ext cx="965568" cy="14630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3218688"/>
            <a:ext cx="457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4A261"/>
                </a:solidFill>
              </a:rPr>
              <a:t>48%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3520440"/>
            <a:ext cx="63825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F4C81"/>
                </a:solidFill>
              </a:rPr>
              <a:t>ECG Diagnoses (PTB-XL):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49240" y="3776472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LBBB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69480" y="3831336"/>
            <a:ext cx="2286000" cy="14630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69480" y="3831336"/>
            <a:ext cx="1649512" cy="146304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3776472"/>
            <a:ext cx="457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F4C81"/>
                </a:solidFill>
              </a:rPr>
              <a:t>82%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9240" y="4032504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Inferior MI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69480" y="4087368"/>
            <a:ext cx="2286000" cy="14630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269480" y="4087368"/>
            <a:ext cx="1227076" cy="146304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0" y="4032504"/>
            <a:ext cx="457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F4C81"/>
                </a:solidFill>
              </a:rPr>
              <a:t>61%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9240" y="4288536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LV Hypertrophy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69480" y="4343400"/>
            <a:ext cx="2286000" cy="14630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269480" y="4343400"/>
            <a:ext cx="905220" cy="146304"/>
          </a:xfrm>
          <a:prstGeom prst="rect">
            <a:avLst/>
          </a:prstGeom>
          <a:solidFill>
            <a:srgbClr val="6D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92640" y="4288536"/>
            <a:ext cx="457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6D6875"/>
                </a:solidFill>
              </a:rPr>
              <a:t>45%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49240" y="4590288"/>
            <a:ext cx="6336792" cy="457200"/>
          </a:xfrm>
          <a:prstGeom prst="rect">
            <a:avLst/>
          </a:prstGeom>
          <a:solidFill>
            <a:srgbClr val="FEE2E2"/>
          </a:solidFill>
          <a:ln w="9525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40680" y="4617720"/>
            <a:ext cx="6199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63946"/>
                </a:solidFill>
              </a:rPr>
              <a:t>⚠ Urgent Referral: Dilated cardiomyopathy + LBBB. Echo confirmation advised.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6492240"/>
            <a:ext cx="114574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Launch: streamlit run app/app.py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4C81"/>
                </a:solidFill>
              </a:rPr>
              <a:t>Tools &amp; Libraries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33272"/>
            <a:ext cx="3200400" cy="45720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8206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782062" cy="54864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371600"/>
            <a:ext cx="263575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F4C81"/>
                </a:solidFill>
              </a:rPr>
              <a:t>PyTorch 2.0+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664208"/>
            <a:ext cx="2635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Deep learning · Training &amp; inference · MPS/CUDA/CPU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57550" y="1280160"/>
            <a:ext cx="278206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57550" y="1280160"/>
            <a:ext cx="2782062" cy="54864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0702" y="1371600"/>
            <a:ext cx="263575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A9E8F"/>
                </a:solidFill>
              </a:rPr>
              <a:t>Streamlit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0702" y="1664208"/>
            <a:ext cx="2635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Web application UI · File upload · Results display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9340" y="1280160"/>
            <a:ext cx="278206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9340" y="1280160"/>
            <a:ext cx="278206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2492" y="1371600"/>
            <a:ext cx="263575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E63946"/>
                </a:solidFill>
              </a:rPr>
              <a:t>Plotly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2492" y="1664208"/>
            <a:ext cx="2635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Interactive waveform &amp; probability charts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41130" y="1280160"/>
            <a:ext cx="278206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41130" y="1280160"/>
            <a:ext cx="2782062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4282" y="1371600"/>
            <a:ext cx="263575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</a:rPr>
              <a:t>Pandas / NumPy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4282" y="1664208"/>
            <a:ext cx="2635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Dataset loading · Feature engineering · Log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286000"/>
            <a:ext cx="278206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286000"/>
            <a:ext cx="2782062" cy="54864"/>
          </a:xfrm>
          <a:prstGeom prst="rect">
            <a:avLst/>
          </a:prstGeom>
          <a:solidFill>
            <a:srgbClr val="6D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377440"/>
            <a:ext cx="263575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D6875"/>
                </a:solidFill>
              </a:rPr>
              <a:t>Scikit-learn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2670048"/>
            <a:ext cx="2635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AUROC computation · ROC analysis · Evaluation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57550" y="2286000"/>
            <a:ext cx="278206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57550" y="2286000"/>
            <a:ext cx="2782062" cy="54864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0702" y="2377440"/>
            <a:ext cx="263575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A9E8F"/>
                </a:solidFill>
              </a:rPr>
              <a:t>NeuroKit2 [7]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0702" y="2670048"/>
            <a:ext cx="2635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ECG feature extraction · QRS/PR/QTc delineation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9340" y="2286000"/>
            <a:ext cx="278206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9340" y="2286000"/>
            <a:ext cx="2782062" cy="54864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2492" y="2377440"/>
            <a:ext cx="263575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F4C81"/>
                </a:solidFill>
              </a:rPr>
              <a:t>OpenCV + Pillow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2492" y="2670048"/>
            <a:ext cx="2635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Image preprocessing · Deskewing · Grid removal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41130" y="2286000"/>
            <a:ext cx="278206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41130" y="2286000"/>
            <a:ext cx="278206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14282" y="2377440"/>
            <a:ext cx="263575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E63946"/>
                </a:solidFill>
              </a:rPr>
              <a:t>SciPy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4282" y="2670048"/>
            <a:ext cx="2635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Signal resampling (100→250 Hz) · Filtering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91840"/>
            <a:ext cx="278206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291840"/>
            <a:ext cx="2782062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3383280"/>
            <a:ext cx="263575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</a:rPr>
              <a:t>WFDB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" y="3675888"/>
            <a:ext cx="2635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PhysioNet data loading · PTB-XL record parsing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57550" y="3291840"/>
            <a:ext cx="278206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57550" y="3291840"/>
            <a:ext cx="2782062" cy="54864"/>
          </a:xfrm>
          <a:prstGeom prst="rect">
            <a:avLst/>
          </a:prstGeom>
          <a:solidFill>
            <a:srgbClr val="6D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0702" y="3383280"/>
            <a:ext cx="263575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D6875"/>
                </a:solidFill>
              </a:rPr>
              <a:t>pdf2image / pypdf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0702" y="3675888"/>
            <a:ext cx="2635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PDF ECG import · Page-to-image conversion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9340" y="3291840"/>
            <a:ext cx="278206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49340" y="3291840"/>
            <a:ext cx="2782062" cy="54864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22492" y="3383280"/>
            <a:ext cx="263575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A9E8F"/>
                </a:solidFill>
              </a:rPr>
              <a:t>Matplotlib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22492" y="3675888"/>
            <a:ext cx="2635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Training curve plots · Analysis graphs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41130" y="3291840"/>
            <a:ext cx="278206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41130" y="3291840"/>
            <a:ext cx="2782062" cy="54864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14282" y="3383280"/>
            <a:ext cx="263575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F4C81"/>
                </a:solidFill>
              </a:rPr>
              <a:t>tqdm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14282" y="3675888"/>
            <a:ext cx="263575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Training progress bars · Epoch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4C81"/>
                </a:solidFill>
              </a:rPr>
              <a:t>Diagnosis Engine — How the AI Reasons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33272"/>
            <a:ext cx="3200400" cy="45720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120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120640" cy="64008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</a:rPr>
              <a:t>3-Source Evidence Fusion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4937760" cy="384048"/>
          </a:xfrm>
          <a:prstGeom prst="rect">
            <a:avLst/>
          </a:prstGeom>
          <a:solidFill>
            <a:srgbClr val="0F4C8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PTB-XL Model Probabilities (ECG pattern recognition)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4937760" cy="384048"/>
          </a:xfrm>
          <a:prstGeom prst="rect">
            <a:avLst/>
          </a:prstGeom>
          <a:solidFill>
            <a:srgbClr val="F0FA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+ Morphological Features (ST segments, Q waves, rhythm)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4937760" cy="384048"/>
          </a:xfrm>
          <a:prstGeom prst="rect">
            <a:avLst/>
          </a:prstGeom>
          <a:solidFill>
            <a:srgbClr val="E63946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+ EchoNext Structural Probabilities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4937760" cy="384048"/>
          </a:xfrm>
          <a:prstGeom prst="rect">
            <a:avLst/>
          </a:prstGeom>
          <a:solidFill>
            <a:srgbClr val="F4A26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Evidence-Weighted Scoring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4937760" cy="384048"/>
          </a:xfrm>
          <a:prstGeom prst="rect">
            <a:avLst/>
          </a:prstGeom>
          <a:solidFill>
            <a:srgbClr val="1A9E8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→ Ranked Differential Diagnoses + Confidence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1234440"/>
            <a:ext cx="619963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0" y="1234440"/>
            <a:ext cx="6199632" cy="6400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325880"/>
            <a:ext cx="6016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4C81"/>
                </a:solidFill>
              </a:rPr>
              <a:t>Evidence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1664208"/>
            <a:ext cx="592531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Anchors — required findings for a diagnosis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Supporters — boost confidence by +10–25%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• Against — dampen score (e.g. narrow QRS → not LBBB)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2697480"/>
            <a:ext cx="5925312" cy="320040"/>
          </a:xfrm>
          <a:prstGeom prst="rect">
            <a:avLst/>
          </a:prstGeom>
          <a:solidFill>
            <a:srgbClr val="F0FAF8"/>
          </a:solidFill>
          <a:ln w="9525">
            <a:solidFill>
              <a:srgbClr val="1A9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2724912"/>
            <a:ext cx="57424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0F4C81"/>
                </a:solidFill>
              </a:rPr>
              <a:t>confidence = (anchor + support_bonus) × dampen_factor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3063240"/>
            <a:ext cx="61996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0" y="3063240"/>
            <a:ext cx="6199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3154680"/>
            <a:ext cx="6016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</a:rPr>
              <a:t>Risk Thresholds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3493008"/>
            <a:ext cx="1929384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3493008"/>
            <a:ext cx="1929384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3584448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E63946"/>
                </a:solidFill>
              </a:rPr>
              <a:t>≥60%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995928"/>
            <a:ext cx="1929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HIGH — urgent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35824" y="3493008"/>
            <a:ext cx="1929384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35824" y="3493008"/>
            <a:ext cx="1929384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35824" y="3584448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F4A261"/>
                </a:solidFill>
              </a:rPr>
              <a:t>35–59%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35824" y="3995928"/>
            <a:ext cx="1929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MODERATE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10928" y="3493008"/>
            <a:ext cx="1929384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10928" y="3493008"/>
            <a:ext cx="1929384" cy="64008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10928" y="3584448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1A9E8F"/>
                </a:solidFill>
              </a:rPr>
              <a:t>&lt;35%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8" y="3995928"/>
            <a:ext cx="1929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LOW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4C81"/>
                </a:solidFill>
              </a:rPr>
              <a:t>Deployment Strategy for Nigeria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33272"/>
            <a:ext cx="3200400" cy="45720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727704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727704" cy="64008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544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</a:rPr>
              <a:t>Primary Health Centres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73352"/>
            <a:ext cx="3453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Nurse photographs ECG → instant AI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01952"/>
            <a:ext cx="3453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No on-site specialist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30552"/>
            <a:ext cx="3453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Flags urgent referrals automatically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9152"/>
            <a:ext cx="3453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35M+ PHC patients/year [2]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0624" y="1234440"/>
            <a:ext cx="3727704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0624" y="1234440"/>
            <a:ext cx="3727704" cy="6400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2064" y="1325880"/>
            <a:ext cx="3544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4C81"/>
                </a:solidFill>
              </a:rPr>
              <a:t>District Hospitals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7784" y="1673352"/>
            <a:ext cx="3453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Specialist-level AI for general practitioners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7784" y="1901952"/>
            <a:ext cx="3453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Reduces unnecessary referrals upstream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7784" y="2130552"/>
            <a:ext cx="3453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Tele-cardiology ready output 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7784" y="2359152"/>
            <a:ext cx="3453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Bridges rural–urban specialist gap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5488" y="1234440"/>
            <a:ext cx="3727704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5488" y="1234440"/>
            <a:ext cx="3727704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6928" y="1325880"/>
            <a:ext cx="3544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Diagnostic Centres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2648" y="1673352"/>
            <a:ext cx="3453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50–200 ECGs/day processed [2]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2648" y="1901952"/>
            <a:ext cx="3453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Interpretation: 15 min → 30 seconds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2648" y="2130552"/>
            <a:ext cx="3453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Standardised, documentable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2648" y="2359152"/>
            <a:ext cx="3453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93B"/>
                </a:solidFill>
              </a:rPr>
              <a:t>• No part-time cardiologist bottleneck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03320"/>
            <a:ext cx="2795778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703320"/>
            <a:ext cx="2795778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794760"/>
            <a:ext cx="27957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E63946"/>
                </a:solidFill>
              </a:rPr>
              <a:t>97%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206240"/>
            <a:ext cx="279577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Cost reduction vs specialist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1538" y="3703320"/>
            <a:ext cx="2795778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1538" y="3703320"/>
            <a:ext cx="2795778" cy="64008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61538" y="3794760"/>
            <a:ext cx="27957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1A9E8F"/>
                </a:solidFill>
              </a:rPr>
              <a:t>30s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61538" y="4206240"/>
            <a:ext cx="279577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Per-ECG AI interpretation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57316" y="3703320"/>
            <a:ext cx="2795778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57316" y="3703320"/>
            <a:ext cx="2795778" cy="6400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57316" y="3794760"/>
            <a:ext cx="27957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0F4C81"/>
                </a:solidFill>
              </a:rPr>
              <a:t>24/7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57316" y="4206240"/>
            <a:ext cx="279577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Offline availability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53094" y="3703320"/>
            <a:ext cx="2795778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53094" y="3703320"/>
            <a:ext cx="2795778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53094" y="3794760"/>
            <a:ext cx="279577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F4A261"/>
                </a:solidFill>
              </a:rPr>
              <a:t>₦0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3094" y="4206240"/>
            <a:ext cx="279577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Per-analysis after setup [8]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4C81"/>
                </a:solidFill>
              </a:rPr>
              <a:t>Performance vs Published Baselines  [5]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33272"/>
            <a:ext cx="3200400" cy="45720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6400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6400800" cy="6400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4C81"/>
                </a:solidFill>
              </a:rPr>
              <a:t>AUROC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60350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9691" y="2448763"/>
            <a:ext cx="844905" cy="2534716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" y="2192731"/>
            <a:ext cx="84490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1A9E8F"/>
                </a:solidFill>
              </a:rPr>
              <a:t>0.954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" y="5029200"/>
            <a:ext cx="84490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Our 1D-ResNet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" y="5230368"/>
            <a:ext cx="84490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(PTB-XL)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36699" y="2827324"/>
            <a:ext cx="844905" cy="215615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6699" y="2571292"/>
            <a:ext cx="84490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F4C81"/>
                </a:solidFill>
              </a:rPr>
              <a:t>0.931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6699" y="5029200"/>
            <a:ext cx="84490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XResNet1d50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43707" y="2926080"/>
            <a:ext cx="844905" cy="2057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3707" y="2670048"/>
            <a:ext cx="84490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F4C81"/>
                </a:solidFill>
              </a:rPr>
              <a:t>0.925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3707" y="5029200"/>
            <a:ext cx="84490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InceptionTime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0715" y="3732580"/>
            <a:ext cx="844905" cy="1250899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0715" y="3476548"/>
            <a:ext cx="84490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E63946"/>
                </a:solidFill>
              </a:rPr>
              <a:t>0.876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715" y="5029200"/>
            <a:ext cx="84490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LSTM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57723" y="4440326"/>
            <a:ext cx="844905" cy="543153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57723" y="4184294"/>
            <a:ext cx="84490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1A9E8F"/>
                </a:solidFill>
              </a:rPr>
              <a:t>0.833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7723" y="5029200"/>
            <a:ext cx="84490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Our EchoNext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7723" y="5230368"/>
            <a:ext cx="84490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(SHD)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983480"/>
            <a:ext cx="60807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" y="4864608"/>
            <a:ext cx="457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0.80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160520"/>
            <a:ext cx="60807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" y="4041648"/>
            <a:ext cx="457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0.85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337560"/>
            <a:ext cx="60807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" y="3218688"/>
            <a:ext cx="457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0.90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514600"/>
            <a:ext cx="60807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" y="2395728"/>
            <a:ext cx="457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0.95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1691640"/>
            <a:ext cx="60807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" y="1572768"/>
            <a:ext cx="457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95160" y="1234440"/>
            <a:ext cx="4873752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95160" y="1234440"/>
            <a:ext cx="4873752" cy="6400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1325880"/>
            <a:ext cx="4690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4C81"/>
                </a:solidFill>
              </a:rPr>
              <a:t>PTB-XL Comparison  [5]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1664208"/>
            <a:ext cx="4782312" cy="256032"/>
          </a:xfrm>
          <a:prstGeom prst="rect">
            <a:avLst/>
          </a:prstGeom>
          <a:solidFill>
            <a:srgbClr val="0F4C81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1664208"/>
            <a:ext cx="359359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71632" y="1664208"/>
            <a:ext cx="914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AUROC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80" y="1929384"/>
            <a:ext cx="4782312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0" y="1929384"/>
            <a:ext cx="359359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Ours (1D-ResNet)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71632" y="1929384"/>
            <a:ext cx="914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A9E8F"/>
                </a:solidFill>
              </a:rPr>
              <a:t>0.954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0" y="2194560"/>
            <a:ext cx="4782312" cy="25603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2194560"/>
            <a:ext cx="359359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XResNet1d50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71632" y="2194560"/>
            <a:ext cx="914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0.931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2459736"/>
            <a:ext cx="4782312" cy="25603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0" y="2459736"/>
            <a:ext cx="359359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InceptionTime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71632" y="2459736"/>
            <a:ext cx="914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0.925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0" y="2724912"/>
            <a:ext cx="4782312" cy="25603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0" y="2724912"/>
            <a:ext cx="359359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LSTM Baseline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71632" y="2724912"/>
            <a:ext cx="914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0.876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95160" y="3246120"/>
            <a:ext cx="4873752" cy="594360"/>
          </a:xfrm>
          <a:prstGeom prst="rect">
            <a:avLst/>
          </a:prstGeom>
          <a:solidFill>
            <a:srgbClr val="F0FAF8"/>
          </a:solidFill>
          <a:ln w="9525">
            <a:solidFill>
              <a:srgbClr val="1A9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0" y="3291840"/>
            <a:ext cx="4599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Competitive AUROC in &lt;12 total training hours on a consumer laptop — no cloud GPU required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5160" y="3950208"/>
            <a:ext cx="4873752" cy="713232"/>
          </a:xfrm>
          <a:prstGeom prst="rect">
            <a:avLst/>
          </a:prstGeom>
          <a:solidFill>
            <a:srgbClr val="FFFBF0"/>
          </a:solidFill>
          <a:ln w="952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0" y="3995928"/>
            <a:ext cx="459943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Echo-image CNNs reach ~0.89 AUROC [6] but need expensive hardware. Our ECG model closes 94% of that gap at a fraction of the cost.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LIMITATIONS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4C81"/>
                </a:solidFill>
              </a:rPr>
              <a:t>Honest Assessment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33272"/>
            <a:ext cx="3200400" cy="45720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73152" cy="1143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234440"/>
            <a:ext cx="5230368" cy="1143000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</a:rPr>
              <a:t>Population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81912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Trained on European &amp; US data. Nigerian morphology (RHD, African cardiomyopathy) not yet represented [2]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8424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F4C81"/>
                </a:solidFill>
              </a:rPr>
              <a:t>→ Fine-tuning study planned with LUTH / UCH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73152" cy="1143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560320"/>
            <a:ext cx="5230368" cy="1143000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33472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</a:rPr>
              <a:t>Image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07792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Digitiser requires clear, landscape ECG photos (min 800×600 px)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1012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F4C81"/>
                </a:solidFill>
              </a:rPr>
              <a:t>→ In-app quality guidance before inference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73152" cy="1143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3886200"/>
            <a:ext cx="5230368" cy="1143000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59352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</a:rPr>
              <a:t>Clinical Reminder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33672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AI output is decision support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3600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F4C81"/>
                </a:solidFill>
              </a:rPr>
              <a:t>→ Licensed clinician must confirm before treatment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1234440"/>
            <a:ext cx="5971032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97880" y="1234440"/>
            <a:ext cx="5971032" cy="64008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1325880"/>
            <a:ext cx="5788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</a:rPr>
              <a:t>Future Roadmap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1691640"/>
            <a:ext cx="5788152" cy="256032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691640"/>
            <a:ext cx="56967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Near-term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965960"/>
            <a:ext cx="56052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• Nigerian dataset fine-tuning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212848"/>
            <a:ext cx="56052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• Local language UI (Hausa/Yoruba/Igbo)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459736"/>
            <a:ext cx="56052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• Model quantisation for low-spec devices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2779776"/>
            <a:ext cx="5788152" cy="25603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2779776"/>
            <a:ext cx="56967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Mid-term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054096"/>
            <a:ext cx="56052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• HL7/FHIR EMR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300984"/>
            <a:ext cx="56052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• Multi-centre Nigeria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3547872"/>
            <a:ext cx="56052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• NAFDAC regulatory submission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3867912"/>
            <a:ext cx="5788152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3867912"/>
            <a:ext cx="56967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Long-term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142232"/>
            <a:ext cx="56052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• Pan-Africa ECG consortium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389120"/>
            <a:ext cx="56052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• Transformer (ECG-BERT) upgrade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636008"/>
            <a:ext cx="560527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• Federated learning across hospitals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4C81"/>
            </a:gs>
            <a:gs pos="100000">
              <a:srgbClr val="1A9E8F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94360"/>
            <a:ext cx="1145743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5743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CCE8FF"/>
                </a:solidFill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90956" y="2560320"/>
            <a:ext cx="3291840" cy="960120"/>
          </a:xfrm>
          <a:prstGeom prst="rect">
            <a:avLst/>
          </a:prstGeom>
          <a:solidFill>
            <a:srgbClr val="1A6AA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" y="262432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▶  Run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" y="299923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AACCFF"/>
                </a:solidFill>
              </a:rPr>
              <a:t>streamlit run app/app.py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8556" y="2560320"/>
            <a:ext cx="3291840" cy="960120"/>
          </a:xfrm>
          <a:prstGeom prst="rect">
            <a:avLst/>
          </a:prstGeom>
          <a:solidFill>
            <a:srgbClr val="1A6AA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8556" y="262432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  PTB-XL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8556" y="299923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AACCFF"/>
                </a:solidFill>
              </a:rPr>
              <a:t>physionet.org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6156" y="2560320"/>
            <a:ext cx="3291840" cy="960120"/>
          </a:xfrm>
          <a:prstGeom prst="rect">
            <a:avLst/>
          </a:prstGeom>
          <a:solidFill>
            <a:srgbClr val="1A6AA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6156" y="262432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🌍  Built for Nigeria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6156" y="299923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AACCFF"/>
                </a:solidFill>
              </a:rPr>
              <a:t>Resource-limited settings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" y="3749039"/>
            <a:ext cx="2560320" cy="868680"/>
          </a:xfrm>
          <a:prstGeom prst="rect">
            <a:avLst/>
          </a:prstGeom>
          <a:solidFill>
            <a:srgbClr val="0D3A6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" y="3794760"/>
            <a:ext cx="2560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0.954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" y="427939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AACCFF"/>
                </a:solidFill>
              </a:rPr>
              <a:t>PTB-XL AUROC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33572" y="3749039"/>
            <a:ext cx="2560320" cy="868680"/>
          </a:xfrm>
          <a:prstGeom prst="rect">
            <a:avLst/>
          </a:prstGeom>
          <a:solidFill>
            <a:srgbClr val="0D3A6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3572" y="3794760"/>
            <a:ext cx="2560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0.833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3572" y="427939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AACCFF"/>
                </a:solidFill>
              </a:rPr>
              <a:t>SHD AUROC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5060" y="3749039"/>
            <a:ext cx="2560320" cy="868680"/>
          </a:xfrm>
          <a:prstGeom prst="rect">
            <a:avLst/>
          </a:prstGeom>
          <a:solidFill>
            <a:srgbClr val="0D3A6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5060" y="3794760"/>
            <a:ext cx="2560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5060" y="427939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AACCFF"/>
                </a:solidFill>
              </a:rPr>
              <a:t>Conditions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56548" y="3749039"/>
            <a:ext cx="2560320" cy="868680"/>
          </a:xfrm>
          <a:prstGeom prst="rect">
            <a:avLst/>
          </a:prstGeom>
          <a:solidFill>
            <a:srgbClr val="0D3A6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56548" y="3794760"/>
            <a:ext cx="2560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&lt;12h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6548" y="427939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AACCFF"/>
                </a:solidFill>
              </a:rPr>
              <a:t>Training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54880"/>
            <a:ext cx="1145743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846320"/>
            <a:ext cx="11457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88AACC"/>
                </a:solidFill>
              </a:rPr>
              <a:t>AI ECG Interpreter  ·  Dr. Femi Lawal  ·  RAIN  ·  March 27,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4C81"/>
                </a:solidFill>
              </a:rPr>
              <a:t>Index of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33272"/>
            <a:ext cx="3200400" cy="45720"/>
          </a:xfrm>
          <a:prstGeom prst="rect">
            <a:avLst/>
          </a:prstGeom>
          <a:solidFill>
            <a:srgbClr val="1A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1132027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9E8F"/>
                </a:solidFill>
              </a:rPr>
              <a:t>[1]</a:t>
            </a:r>
            <a:r>
              <a:rPr sz="1000">
                <a:solidFill>
                  <a:srgbClr val="1E293B"/>
                </a:solidFill>
              </a:rPr>
              <a:t>  World Health Organization. Global Health Estimates: Leading Causes of Death. WHO; 2020. who.int/data/gho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92224"/>
            <a:ext cx="1132027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9E8F"/>
                </a:solidFill>
              </a:rPr>
              <a:t>[2]</a:t>
            </a:r>
            <a:r>
              <a:rPr sz="1000">
                <a:solidFill>
                  <a:srgbClr val="1E293B"/>
                </a:solidFill>
              </a:rPr>
              <a:t>  Okello S, et al. Cardiovascular diseases in low- and middle-income countries. Circ Cardiovasc Qual Outcomes. 2020;13(1):e006012.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1132027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9E8F"/>
                </a:solidFill>
              </a:rPr>
              <a:t>[3]</a:t>
            </a:r>
            <a:r>
              <a:rPr sz="1000">
                <a:solidFill>
                  <a:srgbClr val="1E293B"/>
                </a:solidFill>
              </a:rPr>
              <a:t>  Adeyemi AA, et al. Cardiology workforce in Nigeria: a situational analysis. Pan African Medical Journal. 2019;34:192.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79776"/>
            <a:ext cx="1132027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9E8F"/>
                </a:solidFill>
              </a:rPr>
              <a:t>[4]</a:t>
            </a:r>
            <a:r>
              <a:rPr sz="1000">
                <a:solidFill>
                  <a:srgbClr val="1E293B"/>
                </a:solidFill>
              </a:rPr>
              <a:t>  Wagner P, et al. PTB-XL, a large publicly available electrocardiography dataset. Scientific Data. 2020;7(1):154.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73552"/>
            <a:ext cx="1132027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9E8F"/>
                </a:solidFill>
              </a:rPr>
              <a:t>[5]</a:t>
            </a:r>
            <a:r>
              <a:rPr sz="1000">
                <a:solidFill>
                  <a:srgbClr val="1E293B"/>
                </a:solidFill>
              </a:rPr>
              <a:t>  Strodthoff N, et al. Deep Learning for ECG Analysis: Benchmarks and Insights from PTB-XL. IEEE J Biomed Health Inform. 2021;25(5):1519–1528.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67328"/>
            <a:ext cx="1132027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9E8F"/>
                </a:solidFill>
              </a:rPr>
              <a:t>[6]</a:t>
            </a:r>
            <a:r>
              <a:rPr sz="1000">
                <a:solidFill>
                  <a:srgbClr val="1E293B"/>
                </a:solidFill>
              </a:rPr>
              <a:t>  Ouyang D, et al. Video-based AI for beat-to-beat assessment of cardiac function. Nature. 2020;580:252–256.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261104"/>
            <a:ext cx="1132027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9E8F"/>
                </a:solidFill>
              </a:rPr>
              <a:t>[7]</a:t>
            </a:r>
            <a:r>
              <a:rPr sz="1000">
                <a:solidFill>
                  <a:srgbClr val="1E293B"/>
                </a:solidFill>
              </a:rPr>
              <a:t>  Makowski D, et al. NeuroKit2: A Python Toolbox for Neurophysiological Signal Processing. Behav Res Methods. 2021;53:1689–1696.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754880"/>
            <a:ext cx="1132027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9E8F"/>
                </a:solidFill>
              </a:rPr>
              <a:t>[8]</a:t>
            </a:r>
            <a:r>
              <a:rPr sz="1000">
                <a:solidFill>
                  <a:srgbClr val="1E293B"/>
                </a:solidFill>
              </a:rPr>
              <a:t>  Central Bank of Nigeria. Official Exchange Rate. CBN; March 2026. Rate: ₦1,600/USD. cbn.gov.ng
       Conversions: ECG $3–8 = ₦4,800–₦12,800 · Echo $200–400 = ₦320,000–₦640,000 · ECG machine $300–$1,000 = ₦480,000–₦1.6M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